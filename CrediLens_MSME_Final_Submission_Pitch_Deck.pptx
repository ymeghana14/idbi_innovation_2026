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0F294E"/>
                </a:solidFill>
              </a:rPr>
              <a:t>CrediLens MSME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A5FAA"/>
                </a:solidFill>
              </a:rPr>
              <a:t>AI-Powered Financial Health Card for Credit-Invisible MSMEs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00200"/>
            <a:ext cx="941832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A6473"/>
                </a:solidFill>
              </a:rPr>
              <a:t>Track 03: Financial Inclusion | Digital Lending | Credit Decisioning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834640"/>
            <a:ext cx="1325880" cy="438912"/>
          </a:xfrm>
          <a:prstGeom prst="round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834640"/>
            <a:ext cx="1325880" cy="438912"/>
          </a:xfrm>
          <a:prstGeom prst="round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9" y="2834640"/>
            <a:ext cx="1325880" cy="438912"/>
          </a:xfrm>
          <a:prstGeom prst="roundRect">
            <a:avLst/>
          </a:prstGeom>
          <a:solidFill>
            <a:srgbClr val="369169"/>
          </a:solidFill>
          <a:ln>
            <a:solidFill>
              <a:srgbClr val="36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2834640"/>
            <a:ext cx="1325880" cy="438912"/>
          </a:xfrm>
          <a:prstGeom prst="roundRect">
            <a:avLst/>
          </a:prstGeom>
          <a:solidFill>
            <a:srgbClr val="D38C1E"/>
          </a:solidFill>
          <a:ln>
            <a:solidFill>
              <a:srgbClr val="D3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EPFO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834640"/>
            <a:ext cx="1325880" cy="438912"/>
          </a:xfrm>
          <a:prstGeom prst="roundRect">
            <a:avLst/>
          </a:prstGeom>
          <a:solidFill>
            <a:srgbClr val="BC4444"/>
          </a:solidFill>
          <a:ln>
            <a:solidFill>
              <a:srgbClr val="B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Invoices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3474720"/>
            <a:ext cx="1371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008787"/>
                </a:solidFill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3886200"/>
            <a:ext cx="5897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4069080"/>
            <a:ext cx="530352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0F294E"/>
                </a:solidFill>
              </a:rPr>
              <a:t>Unified MSME Financial Health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498848"/>
            <a:ext cx="512064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A6473"/>
                </a:solidFill>
              </a:rPr>
              <a:t>Score • Risk Radar • Explainability • Lending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45720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5A6473"/>
                </a:solidFill>
              </a:rPr>
              <a:t>CrediLens MSME | IDBI Innovate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5A6473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0F294E"/>
                </a:solidFill>
              </a:rPr>
              <a:t>Problem: Viable MSMEs remain credit-invisible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7512"/>
            <a:ext cx="10972800" cy="3017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473"/>
                </a:solidFill>
              </a:rPr>
              <a:t>Traditional document-heavy underwriting fails many NTC/NTB enterprises.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14984"/>
            <a:ext cx="10744200" cy="27432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32588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32588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35607"/>
            <a:ext cx="32004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A5FAA"/>
                </a:solidFill>
              </a:rPr>
              <a:t>Document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37360"/>
            <a:ext cx="3200400" cy="8229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Many MSMEs lack audited statements, formal balance sheets, detailed P&amp;L reports, or strong bureau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474720" cy="132588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325880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435607"/>
            <a:ext cx="32004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8787"/>
                </a:solidFill>
              </a:rPr>
              <a:t>Alternate Data Fragmentation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737360"/>
            <a:ext cx="3200400" cy="8229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Useful signals from GST, UPI, bank transactions, payroll, and invoices are available but not unified.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25880"/>
            <a:ext cx="3291840" cy="132588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73152" cy="1325880"/>
          </a:xfrm>
          <a:prstGeom prst="rect">
            <a:avLst/>
          </a:prstGeom>
          <a:solidFill>
            <a:srgbClr val="BC4444"/>
          </a:solidFill>
          <a:ln>
            <a:solidFill>
              <a:srgbClr val="B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435607"/>
            <a:ext cx="30175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BC4444"/>
                </a:solidFill>
              </a:rPr>
              <a:t>Credit Exclusion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737360"/>
            <a:ext cx="3017520" cy="8229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Creditworthy businesses may get rejected, slowing inclusion and portfolio diversification.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46120"/>
            <a:ext cx="1024128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F294E"/>
                </a:solidFill>
              </a:rPr>
              <a:t>Core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03320"/>
            <a:ext cx="9692640" cy="6400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900" b="1">
                <a:solidFill>
                  <a:srgbClr val="2A5FAA"/>
                </a:solidFill>
              </a:rPr>
              <a:t>How can a bank assess thin-file MSMEs quickly, fairly, and explainably using consented alternate data?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45720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5A6473"/>
                </a:solidFill>
              </a:rPr>
              <a:t>CrediLens MSME | IDBI Innovate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5A6473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0F294E"/>
                </a:solidFill>
              </a:rPr>
              <a:t>Solution: CrediLens MSME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7512"/>
            <a:ext cx="10972800" cy="3017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473"/>
                </a:solidFill>
              </a:rPr>
              <a:t>A Financial Health Card and credit readiness engine for NTC/NTB MSMEs.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14984"/>
            <a:ext cx="10744200" cy="27432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73152" cy="141732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21031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A5FAA"/>
                </a:solidFill>
              </a:rPr>
              <a:t>Alternate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20240"/>
            <a:ext cx="21031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GST • UPI • AA • EPFO • Invoices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965960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08787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0876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508760"/>
            <a:ext cx="73152" cy="1417320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618488"/>
            <a:ext cx="21031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8787"/>
                </a:solidFill>
              </a:rPr>
              <a:t>AI/ML Score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920240"/>
            <a:ext cx="21031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0–100 health score + risk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1965960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08787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50876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508760"/>
            <a:ext cx="73152" cy="1417320"/>
          </a:xfrm>
          <a:prstGeom prst="rect">
            <a:avLst/>
          </a:prstGeom>
          <a:solidFill>
            <a:srgbClr val="369169"/>
          </a:solidFill>
          <a:ln>
            <a:solidFill>
              <a:srgbClr val="36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1618488"/>
            <a:ext cx="21031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369169"/>
                </a:solidFill>
              </a:rPr>
              <a:t>Explainability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1920240"/>
            <a:ext cx="21031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Strengths, risks, score drivers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1965960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08787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50876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508760"/>
            <a:ext cx="73152" cy="1417320"/>
          </a:xfrm>
          <a:prstGeom prst="rect">
            <a:avLst/>
          </a:prstGeom>
          <a:solidFill>
            <a:srgbClr val="D38C1E"/>
          </a:solidFill>
          <a:ln>
            <a:solidFill>
              <a:srgbClr val="D3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618488"/>
            <a:ext cx="21031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38C1E"/>
                </a:solidFill>
              </a:rPr>
              <a:t>Credit Decision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1920240"/>
            <a:ext cx="21031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Approve • Review • Request data • 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749039"/>
            <a:ext cx="106070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F294E"/>
                </a:solidFill>
              </a:rPr>
              <a:t>What makes it stronger than a basic default model?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343400"/>
            <a:ext cx="9784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32D"/>
                </a:solidFill>
              </a:defRPr>
            </a:pPr>
            <a:r>
              <a:t>It explains financial health across dimensions, instead of giving a black-box approve/reject answer.</a:t>
            </a:r>
          </a:p>
          <a:p>
            <a:pPr>
              <a:spcAft>
                <a:spcPts val="500"/>
              </a:spcAft>
              <a:defRPr sz="1200">
                <a:solidFill>
                  <a:srgbClr val="1E232D"/>
                </a:solidFill>
              </a:defRPr>
            </a:pPr>
            <a:r>
              <a:t>It is designed for inclusion: identifying viable borrowers with thin or missing traditional records.</a:t>
            </a:r>
          </a:p>
          <a:p>
            <a:pPr>
              <a:spcAft>
                <a:spcPts val="500"/>
              </a:spcAft>
              <a:defRPr sz="1200">
                <a:solidFill>
                  <a:srgbClr val="1E232D"/>
                </a:solidFill>
              </a:defRPr>
            </a:pPr>
            <a:r>
              <a:t>It gives bank officers a clear next action with risk visibility and evidence.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46520"/>
            <a:ext cx="45720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5A6473"/>
                </a:solidFill>
              </a:rPr>
              <a:t>CrediLens MSME | IDBI Innovate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5A647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0F294E"/>
                </a:solidFill>
              </a:rPr>
              <a:t>Financial Health Card: What the bank officer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7512"/>
            <a:ext cx="10972800" cy="3017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473"/>
                </a:solidFill>
              </a:rPr>
              <a:t>One screen that summarizes health, risk, evidence, and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14984"/>
            <a:ext cx="10744200" cy="27432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72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384048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294E"/>
                </a:solidFill>
              </a:rPr>
              <a:t>MSME: Sri Lakshmi Traders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38404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5A6473"/>
                </a:solidFill>
              </a:rPr>
              <a:t>Sector: Retail | Vintage: 3.5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377440"/>
            <a:ext cx="1645920" cy="502920"/>
          </a:xfrm>
          <a:prstGeom prst="roundRect">
            <a:avLst/>
          </a:prstGeom>
          <a:solidFill>
            <a:srgbClr val="369169"/>
          </a:solidFill>
          <a:ln>
            <a:solidFill>
              <a:srgbClr val="36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Score: 78/100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377440"/>
            <a:ext cx="1417320" cy="502920"/>
          </a:xfrm>
          <a:prstGeom prst="round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Low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377440"/>
            <a:ext cx="2103120" cy="502920"/>
          </a:xfrm>
          <a:prstGeom prst="round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Credit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219456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94E"/>
                </a:solidFill>
              </a:rPr>
              <a:t>Component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11887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69" b="0">
                <a:solidFill>
                  <a:srgbClr val="1E232D"/>
                </a:solidFill>
              </a:rPr>
              <a:t>Cash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3657600"/>
            <a:ext cx="1920240" cy="100584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3657600"/>
            <a:ext cx="1574596" cy="100584"/>
          </a:xfrm>
          <a:prstGeom prst="rect">
            <a:avLst/>
          </a:prstGeom>
          <a:solidFill>
            <a:srgbClr val="369169"/>
          </a:solidFill>
          <a:ln>
            <a:solidFill>
              <a:srgbClr val="36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611880"/>
            <a:ext cx="41148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1E232D"/>
                </a:solidFill>
              </a:rPr>
              <a:t>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31920"/>
            <a:ext cx="11887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69" b="0">
                <a:solidFill>
                  <a:srgbClr val="1E232D"/>
                </a:solidFill>
              </a:rPr>
              <a:t>UPI Strength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977639"/>
            <a:ext cx="1920240" cy="100584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31720" y="3977639"/>
            <a:ext cx="1689811" cy="100584"/>
          </a:xfrm>
          <a:prstGeom prst="rect">
            <a:avLst/>
          </a:prstGeom>
          <a:solidFill>
            <a:srgbClr val="369169"/>
          </a:solidFill>
          <a:ln>
            <a:solidFill>
              <a:srgbClr val="36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931920"/>
            <a:ext cx="41148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1E232D"/>
                </a:solidFill>
              </a:rPr>
              <a:t>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11887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69" b="0">
                <a:solidFill>
                  <a:srgbClr val="1E232D"/>
                </a:solidFill>
              </a:rPr>
              <a:t>GST Consistency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297680"/>
            <a:ext cx="1920240" cy="100584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4297680"/>
            <a:ext cx="1440180" cy="100584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251960"/>
            <a:ext cx="41148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1E232D"/>
                </a:solidFill>
              </a:rPr>
              <a:t>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72000"/>
            <a:ext cx="11887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69" b="0">
                <a:solidFill>
                  <a:srgbClr val="1E232D"/>
                </a:solidFill>
              </a:rPr>
              <a:t>Repayment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4617720"/>
            <a:ext cx="1920240" cy="100584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31720" y="4617720"/>
            <a:ext cx="1536192" cy="100584"/>
          </a:xfrm>
          <a:prstGeom prst="rect">
            <a:avLst/>
          </a:prstGeom>
          <a:solidFill>
            <a:srgbClr val="369169"/>
          </a:solidFill>
          <a:ln>
            <a:solidFill>
              <a:srgbClr val="36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572000"/>
            <a:ext cx="41148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1E232D"/>
                </a:solidFill>
              </a:rPr>
              <a:t>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92040"/>
            <a:ext cx="11887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69" b="0">
                <a:solidFill>
                  <a:srgbClr val="1E232D"/>
                </a:solidFill>
              </a:rPr>
              <a:t>Payroll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4937759"/>
            <a:ext cx="1920240" cy="100584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31720" y="4937759"/>
            <a:ext cx="1344168" cy="100584"/>
          </a:xfrm>
          <a:prstGeom prst="rect">
            <a:avLst/>
          </a:prstGeom>
          <a:solidFill>
            <a:srgbClr val="D38C1E"/>
          </a:solidFill>
          <a:ln>
            <a:solidFill>
              <a:srgbClr val="D3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4892040"/>
            <a:ext cx="41148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1E232D"/>
                </a:solidFill>
              </a:rPr>
              <a:t>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212080"/>
            <a:ext cx="11887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69" b="0">
                <a:solidFill>
                  <a:srgbClr val="1E232D"/>
                </a:solidFill>
              </a:rPr>
              <a:t>Growth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5257800"/>
            <a:ext cx="1920240" cy="100584"/>
          </a:xfrm>
          <a:prstGeom prst="rect">
            <a:avLst/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31720" y="5257800"/>
            <a:ext cx="1459382" cy="100584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5212080"/>
            <a:ext cx="41148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1E232D"/>
                </a:solidFill>
              </a:rPr>
              <a:t>76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1600200"/>
            <a:ext cx="22860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369169"/>
                </a:solidFill>
              </a:rPr>
              <a:t>Strengths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196596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E232D"/>
                </a:solidFill>
              </a:defRPr>
            </a:pPr>
            <a:r>
              <a:t>Stable UPI inflows</a:t>
            </a:r>
          </a:p>
          <a:p>
            <a:pPr>
              <a:spcAft>
                <a:spcPts val="500"/>
              </a:spcAft>
              <a:defRPr sz="950">
                <a:solidFill>
                  <a:srgbClr val="1E232D"/>
                </a:solidFill>
              </a:defRPr>
            </a:pPr>
            <a:r>
              <a:t>Regular GST trend</a:t>
            </a:r>
          </a:p>
          <a:p>
            <a:pPr>
              <a:spcAft>
                <a:spcPts val="500"/>
              </a:spcAft>
              <a:defRPr sz="950">
                <a:solidFill>
                  <a:srgbClr val="1E232D"/>
                </a:solidFill>
              </a:defRPr>
            </a:pPr>
            <a:r>
              <a:t>Low bounced payments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1600200"/>
            <a:ext cx="22860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BC4444"/>
                </a:solidFill>
              </a:rPr>
              <a:t>Risks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1965960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E232D"/>
                </a:solidFill>
              </a:defRPr>
            </a:pPr>
            <a:r>
              <a:t>Seasonal cash-flow variation</a:t>
            </a:r>
          </a:p>
          <a:p>
            <a:pPr>
              <a:spcAft>
                <a:spcPts val="500"/>
              </a:spcAft>
              <a:defRPr sz="950">
                <a:solidFill>
                  <a:srgbClr val="1E232D"/>
                </a:solidFill>
              </a:defRPr>
            </a:pPr>
            <a:r>
              <a:t>Expense ratio increased recently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3840480"/>
            <a:ext cx="51206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94E"/>
                </a:solidFill>
              </a:rPr>
              <a:t>Recommended Action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60720" y="4251960"/>
            <a:ext cx="5212080" cy="914400"/>
          </a:xfrm>
          <a:prstGeom prst="roundRect">
            <a:avLst/>
          </a:prstGeom>
          <a:solidFill>
            <a:srgbClr val="E8F7F6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60720" y="4251960"/>
            <a:ext cx="73152" cy="914400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25312" y="4361688"/>
            <a:ext cx="493776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8787"/>
                </a:solidFill>
              </a:rPr>
              <a:t>Approve low-ticket working capital loan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5312" y="4663440"/>
            <a:ext cx="4937760" cy="4114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Eligible for small working capital credit with monthly monitoring based on stable digital inflows and low repayment risk.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446520"/>
            <a:ext cx="45720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5A6473"/>
                </a:solidFill>
              </a:rPr>
              <a:t>CrediLens MSME | IDBI Innovate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5A647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0F294E"/>
                </a:solidFill>
              </a:rPr>
              <a:t>Data Signals and Scoring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7512"/>
            <a:ext cx="10972800" cy="3017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473"/>
                </a:solidFill>
              </a:rPr>
              <a:t>Alternate data is converted into measurable, explainable credit indicators.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14984"/>
            <a:ext cx="10744200" cy="27432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463040" cy="411480"/>
          </a:xfrm>
          <a:prstGeom prst="rect">
            <a:avLst/>
          </a:prstGeom>
          <a:solidFill>
            <a:srgbClr val="0F294E"/>
          </a:solidFill>
          <a:ln>
            <a:solidFill>
              <a:srgbClr val="0F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44168"/>
            <a:ext cx="132588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Data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234440"/>
            <a:ext cx="4754880" cy="411480"/>
          </a:xfrm>
          <a:prstGeom prst="rect">
            <a:avLst/>
          </a:prstGeom>
          <a:solidFill>
            <a:srgbClr val="0F294E"/>
          </a:solidFill>
          <a:ln>
            <a:solidFill>
              <a:srgbClr val="0F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30552" y="1344168"/>
            <a:ext cx="461772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Features Extracted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1234440"/>
            <a:ext cx="4297680" cy="411480"/>
          </a:xfrm>
          <a:prstGeom prst="rect">
            <a:avLst/>
          </a:prstGeom>
          <a:solidFill>
            <a:srgbClr val="0F294E"/>
          </a:solidFill>
          <a:ln>
            <a:solidFill>
              <a:srgbClr val="0F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2" y="1344168"/>
            <a:ext cx="416052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Financial Health Dimension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146304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01368"/>
            <a:ext cx="13258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1">
                <a:solidFill>
                  <a:srgbClr val="0F294E"/>
                </a:solidFill>
              </a:rPr>
              <a:t>GST-like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645920"/>
            <a:ext cx="475488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0552" y="1801368"/>
            <a:ext cx="46177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0">
                <a:solidFill>
                  <a:srgbClr val="1E232D"/>
                </a:solidFill>
              </a:rPr>
              <a:t>Sales trend, filing regularity, turnover consistency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1645920"/>
            <a:ext cx="429768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2" y="1801368"/>
            <a:ext cx="41605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0">
                <a:solidFill>
                  <a:srgbClr val="1E232D"/>
                </a:solidFill>
              </a:rPr>
              <a:t>Compliance &amp; business growth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212848"/>
            <a:ext cx="14630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368296"/>
            <a:ext cx="13258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1">
                <a:solidFill>
                  <a:srgbClr val="0F294E"/>
                </a:solidFill>
              </a:rPr>
              <a:t>UPI-like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2212848"/>
            <a:ext cx="47548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30552" y="2368296"/>
            <a:ext cx="46177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0">
                <a:solidFill>
                  <a:srgbClr val="1E232D"/>
                </a:solidFill>
              </a:rPr>
              <a:t>Transaction count, inflow value, growth trend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2212848"/>
            <a:ext cx="4297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2" y="2368296"/>
            <a:ext cx="41605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0">
                <a:solidFill>
                  <a:srgbClr val="1E232D"/>
                </a:solidFill>
              </a:rPr>
              <a:t>Digital payment strength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779776"/>
            <a:ext cx="146304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2935224"/>
            <a:ext cx="13258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1">
                <a:solidFill>
                  <a:srgbClr val="0F294E"/>
                </a:solidFill>
              </a:rPr>
              <a:t>AA bank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2779776"/>
            <a:ext cx="475488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30552" y="2935224"/>
            <a:ext cx="46177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0">
                <a:solidFill>
                  <a:srgbClr val="1E232D"/>
                </a:solidFill>
              </a:rPr>
              <a:t>Balance stability, inflow/outflow pattern, bounce count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2779776"/>
            <a:ext cx="429768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5432" y="2935224"/>
            <a:ext cx="41605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0">
                <a:solidFill>
                  <a:srgbClr val="1E232D"/>
                </a:solidFill>
              </a:rPr>
              <a:t>Cash-flow stability &amp;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346704"/>
            <a:ext cx="14630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502152"/>
            <a:ext cx="13258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1">
                <a:solidFill>
                  <a:srgbClr val="0F294E"/>
                </a:solidFill>
              </a:rPr>
              <a:t>EPFO-like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3346704"/>
            <a:ext cx="47548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30552" y="3502152"/>
            <a:ext cx="46177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0">
                <a:solidFill>
                  <a:srgbClr val="1E232D"/>
                </a:solidFill>
              </a:rPr>
              <a:t>Employee count, payroll regularity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12280" y="3346704"/>
            <a:ext cx="4297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85432" y="3502152"/>
            <a:ext cx="41605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0">
                <a:solidFill>
                  <a:srgbClr val="1E232D"/>
                </a:solidFill>
              </a:rPr>
              <a:t>Business continuity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913632"/>
            <a:ext cx="146304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4069080"/>
            <a:ext cx="13258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1">
                <a:solidFill>
                  <a:srgbClr val="0F294E"/>
                </a:solidFill>
              </a:rPr>
              <a:t>Invoice-like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3913632"/>
            <a:ext cx="475488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0552" y="4069080"/>
            <a:ext cx="46177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0">
                <a:solidFill>
                  <a:srgbClr val="1E232D"/>
                </a:solidFill>
              </a:rPr>
              <a:t>Invoice frequency, delayed receivables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80" y="3913632"/>
            <a:ext cx="4297680" cy="566928"/>
          </a:xfrm>
          <a:prstGeom prst="rect">
            <a:avLst/>
          </a:prstGeom>
          <a:solidFill>
            <a:srgbClr val="F8FB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85432" y="4069080"/>
            <a:ext cx="41605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0">
                <a:solidFill>
                  <a:srgbClr val="1E232D"/>
                </a:solidFill>
              </a:rPr>
              <a:t>Revenue reliability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4480560"/>
            <a:ext cx="14630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4636008"/>
            <a:ext cx="13258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1">
                <a:solidFill>
                  <a:srgbClr val="0F294E"/>
                </a:solidFill>
              </a:rPr>
              <a:t>Repayment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4480560"/>
            <a:ext cx="47548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30552" y="4636008"/>
            <a:ext cx="46177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0">
                <a:solidFill>
                  <a:srgbClr val="1E232D"/>
                </a:solidFill>
              </a:rPr>
              <a:t>EMI delays, overdue count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4480560"/>
            <a:ext cx="4297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85432" y="4636008"/>
            <a:ext cx="41605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80" b="0">
                <a:solidFill>
                  <a:srgbClr val="1E232D"/>
                </a:solidFill>
              </a:rPr>
              <a:t>Repayment discipline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446520"/>
            <a:ext cx="45720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5A6473"/>
                </a:solidFill>
              </a:rPr>
              <a:t>CrediLens MSME | IDBI Innovate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5A647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0F294E"/>
                </a:solidFill>
              </a:rPr>
              <a:t>AI/ML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7512"/>
            <a:ext cx="10972800" cy="3017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473"/>
                </a:solidFill>
              </a:rPr>
              <a:t>Transparent scoring combined with ML-based risk segmentation.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14984"/>
            <a:ext cx="10744200" cy="27432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29000" cy="123444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23444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35607"/>
            <a:ext cx="31546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A5FAA"/>
                </a:solidFill>
              </a:rPr>
              <a:t>1. Feature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31546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Transforms raw alternate signals into credit indicators such as cash-flow volatility, UPI growth, GST consistency, bounce rate, repayment delay, and payroll stability.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23444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234440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35607"/>
            <a:ext cx="31546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8787"/>
                </a:solidFill>
              </a:rPr>
              <a:t>2. Financial Health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737360"/>
            <a:ext cx="31546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Computes a 0–100 score using weighted dimensions and model outputs. Each component contributes to the final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29000" cy="123444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234440"/>
          </a:xfrm>
          <a:prstGeom prst="rect">
            <a:avLst/>
          </a:prstGeom>
          <a:solidFill>
            <a:srgbClr val="369169"/>
          </a:solidFill>
          <a:ln>
            <a:solidFill>
              <a:srgbClr val="36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35607"/>
            <a:ext cx="31546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369169"/>
                </a:solidFill>
              </a:rPr>
              <a:t>3. Risk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1546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Classifies MSMEs into Low, Medium, or High Risk and identifies credit readiness level.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246120"/>
            <a:ext cx="3931920" cy="114300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3246120"/>
            <a:ext cx="73152" cy="1143000"/>
          </a:xfrm>
          <a:prstGeom prst="rect">
            <a:avLst/>
          </a:prstGeom>
          <a:solidFill>
            <a:srgbClr val="D38C1E"/>
          </a:solidFill>
          <a:ln>
            <a:solidFill>
              <a:srgbClr val="D3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3392" y="3355848"/>
            <a:ext cx="36576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38C1E"/>
                </a:solidFill>
              </a:rPr>
              <a:t>4. 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365760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Generates top positive and negative drivers so bank officers can understand the reason behind every score.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246120"/>
            <a:ext cx="3931920" cy="114300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246120"/>
            <a:ext cx="73152" cy="1143000"/>
          </a:xfrm>
          <a:prstGeom prst="rect">
            <a:avLst/>
          </a:prstGeom>
          <a:solidFill>
            <a:srgbClr val="BC4444"/>
          </a:solidFill>
          <a:ln>
            <a:solidFill>
              <a:srgbClr val="B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355848"/>
            <a:ext cx="36576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BC4444"/>
                </a:solidFill>
              </a:rPr>
              <a:t>5. Recommendation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65760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Maps score + risk drivers into lending actions: approve, manual review, request more data, reject, or monitor.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66360"/>
            <a:ext cx="99669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F294E"/>
                </a:solidFill>
              </a:rPr>
              <a:t>Model candidates for POC: Random Forest / XGBoost / Logistic Regression + rule-based score calibration.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46520"/>
            <a:ext cx="45720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5A6473"/>
                </a:solidFill>
              </a:rPr>
              <a:t>CrediLens MSME | IDBI Innovate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5A6473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0F294E"/>
                </a:solidFill>
              </a:rPr>
              <a:t>POC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7512"/>
            <a:ext cx="10972800" cy="3017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473"/>
                </a:solidFill>
              </a:rPr>
              <a:t>Modular design: synthetic data today, real ecosystem integration tomorrow.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14984"/>
            <a:ext cx="10744200" cy="27432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73152" cy="114300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38528"/>
            <a:ext cx="13258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A5FAA"/>
                </a:solidFill>
              </a:rPr>
              <a:t>Synthetic MSME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0280"/>
            <a:ext cx="1325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GST | UPI | AA | EPFO | Invoice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2221992"/>
            <a:ext cx="32004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08787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3432" y="182880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13432" y="1828800"/>
            <a:ext cx="73152" cy="1143000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78024" y="1938528"/>
            <a:ext cx="13258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8787"/>
                </a:solidFill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024" y="2240280"/>
            <a:ext cx="1325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Cleaning +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2221992"/>
            <a:ext cx="32004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08787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5384" y="182880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5384" y="1828800"/>
            <a:ext cx="73152" cy="1143000"/>
          </a:xfrm>
          <a:prstGeom prst="rect">
            <a:avLst/>
          </a:prstGeom>
          <a:solidFill>
            <a:srgbClr val="369169"/>
          </a:solidFill>
          <a:ln>
            <a:solidFill>
              <a:srgbClr val="36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1938528"/>
            <a:ext cx="13258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369169"/>
                </a:solidFill>
              </a:rPr>
              <a:t>Feature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240280"/>
            <a:ext cx="1325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Credit health indicators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7296" y="2221992"/>
            <a:ext cx="32004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08787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7336" y="182880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7336" y="1828800"/>
            <a:ext cx="73152" cy="1143000"/>
          </a:xfrm>
          <a:prstGeom prst="rect">
            <a:avLst/>
          </a:prstGeom>
          <a:solidFill>
            <a:srgbClr val="D38C1E"/>
          </a:solidFill>
          <a:ln>
            <a:solidFill>
              <a:srgbClr val="D3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1938528"/>
            <a:ext cx="13258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38C1E"/>
                </a:solidFill>
              </a:rPr>
              <a:t>AI/ML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2240280"/>
            <a:ext cx="1325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Score + risk 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2221992"/>
            <a:ext cx="32004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08787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9288" y="182880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9288" y="1828800"/>
            <a:ext cx="73152" cy="1143000"/>
          </a:xfrm>
          <a:prstGeom prst="rect">
            <a:avLst/>
          </a:prstGeom>
          <a:solidFill>
            <a:srgbClr val="BC4444"/>
          </a:solidFill>
          <a:ln>
            <a:solidFill>
              <a:srgbClr val="B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1938528"/>
            <a:ext cx="13258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BC4444"/>
                </a:solidFill>
              </a:rPr>
              <a:t>Explainability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2240280"/>
            <a:ext cx="1325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Drivers + 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221992"/>
            <a:ext cx="32004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08787"/>
                </a:solidFill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40" y="182880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21240" y="1828800"/>
            <a:ext cx="73152" cy="1143000"/>
          </a:xfrm>
          <a:prstGeom prst="rect">
            <a:avLst/>
          </a:prstGeom>
          <a:solidFill>
            <a:srgbClr val="0F294E"/>
          </a:solidFill>
          <a:ln>
            <a:solidFill>
              <a:srgbClr val="0F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5832" y="1938528"/>
            <a:ext cx="13258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294E"/>
                </a:solidFill>
              </a:rPr>
              <a:t>Dashboard/API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5832" y="2240280"/>
            <a:ext cx="1325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Health card +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987552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F294E"/>
                </a:solidFill>
              </a:rPr>
              <a:t>Ecosystem-ready integration layer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20240" y="4343400"/>
            <a:ext cx="2286000" cy="502920"/>
          </a:xfrm>
          <a:prstGeom prst="round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AA: consented financial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4343400"/>
            <a:ext cx="2286000" cy="502920"/>
          </a:xfrm>
          <a:prstGeom prst="round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ULI: lending data access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4343400"/>
            <a:ext cx="2286000" cy="502920"/>
          </a:xfrm>
          <a:prstGeom prst="roundRect">
            <a:avLst/>
          </a:prstGeom>
          <a:solidFill>
            <a:srgbClr val="369169"/>
          </a:solidFill>
          <a:ln>
            <a:solidFill>
              <a:srgbClr val="36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OCEN: digital credit journey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46520"/>
            <a:ext cx="45720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5A6473"/>
                </a:solidFill>
              </a:rPr>
              <a:t>CrediLens MSME | IDBI Innovate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5A6473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0F294E"/>
                </a:solidFill>
              </a:rPr>
              <a:t>Proof of Concept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7512"/>
            <a:ext cx="10972800" cy="3017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473"/>
                </a:solidFill>
              </a:rPr>
              <a:t>What the first-round demo will show to evaluators.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14984"/>
            <a:ext cx="10744200" cy="27432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383280" cy="109728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109728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89888"/>
            <a:ext cx="310896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A5FAA"/>
                </a:solidFill>
              </a:rPr>
              <a:t>Interactive MSME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91639"/>
            <a:ext cx="3108960" cy="5943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Select sample MSME profiles across retail, services, trading, and manufacturing.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109728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73152" cy="1097280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389888"/>
            <a:ext cx="310896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8787"/>
                </a:solidFill>
              </a:rPr>
              <a:t>Instant Health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691639"/>
            <a:ext cx="3108960" cy="5943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Generate score, risk category, credit readiness, and component-level breakdown.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383280" cy="109728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73152" cy="1097280"/>
          </a:xfrm>
          <a:prstGeom prst="rect">
            <a:avLst/>
          </a:prstGeom>
          <a:solidFill>
            <a:srgbClr val="369169"/>
          </a:solidFill>
          <a:ln>
            <a:solidFill>
              <a:srgbClr val="36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389888"/>
            <a:ext cx="310896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369169"/>
                </a:solidFill>
              </a:rPr>
              <a:t>Explainable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691639"/>
            <a:ext cx="3108960" cy="5943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Show top strengths, risks, early warnings, and recommended lending 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971800"/>
            <a:ext cx="10515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0F294E"/>
                </a:solidFill>
              </a:rPr>
              <a:t>Demo 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7472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32D"/>
                </a:solidFill>
              </a:defRPr>
            </a:pPr>
            <a:r>
              <a:t>Financial Health Score from 0–100 with Low/Medium/High Risk classification.</a:t>
            </a:r>
          </a:p>
          <a:p>
            <a:pPr>
              <a:spcAft>
                <a:spcPts val="500"/>
              </a:spcAft>
              <a:defRPr sz="1200">
                <a:solidFill>
                  <a:srgbClr val="1E232D"/>
                </a:solidFill>
              </a:defRPr>
            </a:pPr>
            <a:r>
              <a:t>Score breakdown across cash-flow, digital payments, GST/compliance, repayment, payroll, invoices, and growth.</a:t>
            </a:r>
          </a:p>
          <a:p>
            <a:pPr>
              <a:spcAft>
                <a:spcPts val="500"/>
              </a:spcAft>
              <a:defRPr sz="1200">
                <a:solidFill>
                  <a:srgbClr val="1E232D"/>
                </a:solidFill>
              </a:defRPr>
            </a:pPr>
            <a:r>
              <a:t>Recommendation such as approve, manual review, request more data, monitor, or reject.</a:t>
            </a:r>
          </a:p>
          <a:p>
            <a:pPr>
              <a:spcAft>
                <a:spcPts val="500"/>
              </a:spcAft>
              <a:defRPr sz="1200">
                <a:solidFill>
                  <a:srgbClr val="1E232D"/>
                </a:solidFill>
              </a:defRPr>
            </a:pPr>
            <a:r>
              <a:t>GitHub repository with source code, dataset sample, README, and deployed dashboard link.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45720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5A6473"/>
                </a:solidFill>
              </a:rPr>
              <a:t>CrediLens MSME | IDBI Innovate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5A6473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0F294E"/>
                </a:solidFill>
              </a:rPr>
              <a:t>Business Impact for Bank and MSMEs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7512"/>
            <a:ext cx="10972800" cy="3017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473"/>
                </a:solidFill>
              </a:rPr>
              <a:t>Built for financial inclusion without weakening risk discipline.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14984"/>
            <a:ext cx="10744200" cy="27432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369169"/>
          </a:solidFill>
          <a:ln>
            <a:solidFill>
              <a:srgbClr val="36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30175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369169"/>
                </a:solidFill>
              </a:rPr>
              <a:t>Higher Inclusion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Enables assessment of thin-file NTC/NTB MSMEs using alternate digital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23444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527048"/>
            <a:ext cx="30175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A5FAA"/>
                </a:solidFill>
              </a:rPr>
              <a:t>Faster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82880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Reduces manual first-level credit evaluation through automated health scoring.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73152" cy="1234440"/>
          </a:xfrm>
          <a:prstGeom prst="rect">
            <a:avLst/>
          </a:prstGeom>
          <a:solidFill>
            <a:srgbClr val="BC4444"/>
          </a:solidFill>
          <a:ln>
            <a:solidFill>
              <a:srgbClr val="B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527048"/>
            <a:ext cx="30175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BC4444"/>
                </a:solidFill>
              </a:rPr>
              <a:t>Better Risk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82880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Identifies early warning signs such as cash-flow drops, bounce patterns, and expense spikes.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4612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246120"/>
            <a:ext cx="73152" cy="1234440"/>
          </a:xfrm>
          <a:prstGeom prst="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355848"/>
            <a:ext cx="30175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8787"/>
                </a:solidFill>
              </a:rPr>
              <a:t>Portfolio Diversification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65760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Helps discover viable borrowers across smaller segments and geographies.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24612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246120"/>
            <a:ext cx="73152" cy="1234440"/>
          </a:xfrm>
          <a:prstGeom prst="rect">
            <a:avLst/>
          </a:prstGeom>
          <a:solidFill>
            <a:srgbClr val="D38C1E"/>
          </a:solidFill>
          <a:ln>
            <a:solidFill>
              <a:srgbClr val="D3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1" y="3355848"/>
            <a:ext cx="30175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38C1E"/>
                </a:solidFill>
              </a:rPr>
              <a:t>Transparent Underwriting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1" y="365760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Provides explainable factors behind each score and recommendation.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24612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3246120"/>
            <a:ext cx="73152" cy="1234440"/>
          </a:xfrm>
          <a:prstGeom prst="rect">
            <a:avLst/>
          </a:prstGeom>
          <a:solidFill>
            <a:srgbClr val="0F294E"/>
          </a:solidFill>
          <a:ln>
            <a:solidFill>
              <a:srgbClr val="0F2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1" y="3355848"/>
            <a:ext cx="301752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294E"/>
                </a:solidFill>
              </a:rPr>
              <a:t>Ecosystem Readiness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365760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0" b="0">
                <a:solidFill>
                  <a:srgbClr val="1E232D"/>
                </a:solidFill>
              </a:rPr>
              <a:t>Designed for AA, ULI, and OCEN-based lending journeys.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46520"/>
            <a:ext cx="45720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5A6473"/>
                </a:solidFill>
              </a:rPr>
              <a:t>CrediLens MSME | IDBI Innovate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5A6473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6070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0F294E"/>
                </a:solidFill>
              </a:rPr>
              <a:t>CrediLens MSME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70432"/>
            <a:ext cx="10241280" cy="38404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A5FAA"/>
                </a:solidFill>
              </a:rPr>
              <a:t>Turning alternate MSME data into explainable credit readiness.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57400"/>
            <a:ext cx="9601200" cy="548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900" b="0">
                <a:solidFill>
                  <a:srgbClr val="1E232D"/>
                </a:solidFill>
              </a:rPr>
              <a:t>A bank-ready Financial Health Card that helps identify viable credit-invisible MSMEs, accelerate digital lending, and improve portfolio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657600"/>
            <a:ext cx="2468880" cy="530352"/>
          </a:xfrm>
          <a:prstGeom prst="roundRect">
            <a:avLst/>
          </a:prstGeom>
          <a:solidFill>
            <a:srgbClr val="369169"/>
          </a:solidFill>
          <a:ln>
            <a:solidFill>
              <a:srgbClr val="36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Financial Inclusion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3657600"/>
            <a:ext cx="2468880" cy="530352"/>
          </a:xfrm>
          <a:prstGeom prst="round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Explainable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657600"/>
            <a:ext cx="2468880" cy="530352"/>
          </a:xfrm>
          <a:prstGeom prst="roundRect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Credit Decisioning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83480"/>
            <a:ext cx="941832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F294E"/>
                </a:solidFill>
              </a:rPr>
              <a:t>Submission Assets: POC document • Pitch deck • GitHub repository • Deployed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457200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5A6473"/>
                </a:solidFill>
              </a:rPr>
              <a:t>CrediLens MSME | IDBI Innovate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5A6473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